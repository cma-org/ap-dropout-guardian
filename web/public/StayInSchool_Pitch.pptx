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🎓  Stay-In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EE"/>
                </a:solidFill>
              </a:rPr>
              <a:t>AI-Powered Dropout Prevention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286000"/>
            <a:ext cx="6702552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600"/>
                </a:solidFill>
              </a:rPr>
              <a:t>RTGS AI Hackathon 2026  ·  Problem #100004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DD"/>
                </a:solidFill>
              </a:rPr>
              <a:t>School Education Dept  ·  Govt of Andhra Pradesh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3429000"/>
            <a:ext cx="2560320" cy="1463040"/>
          </a:xfrm>
          <a:prstGeom prst="rect">
            <a:avLst/>
          </a:prstGeom>
          <a:solidFill>
            <a:srgbClr val="00225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3611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600"/>
                </a:solidFill>
              </a:rPr>
              <a:t>34,512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Students Flagged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9856" y="3429000"/>
            <a:ext cx="2560320" cy="1463040"/>
          </a:xfrm>
          <a:prstGeom prst="rect">
            <a:avLst/>
          </a:prstGeom>
          <a:solidFill>
            <a:srgbClr val="00225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3611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600"/>
                </a:solidFill>
              </a:rPr>
              <a:t>80.0%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Dropout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3429000"/>
            <a:ext cx="2560320" cy="1463040"/>
          </a:xfrm>
          <a:prstGeom prst="rect">
            <a:avLst/>
          </a:prstGeom>
          <a:solidFill>
            <a:srgbClr val="00225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3611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600"/>
                </a:solidFill>
              </a:rPr>
              <a:t>9,149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Schools Covered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3429000"/>
            <a:ext cx="2560320" cy="1463040"/>
          </a:xfrm>
          <a:prstGeom prst="rect">
            <a:avLst/>
          </a:prstGeom>
          <a:solidFill>
            <a:srgbClr val="00225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3611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600"/>
                </a:solidFill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Districts Monitored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AP loses thousands of students every year — and we find out too 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" y="1143000"/>
            <a:ext cx="2651760" cy="109728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3366"/>
                </a:solidFill>
              </a:rPr>
              <a:t>1 in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students drops out by Class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6" y="1143000"/>
            <a:ext cx="2651760" cy="109728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127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dropouts are SC/ST/Migrant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5916" y="1143000"/>
            <a:ext cx="2651760" cy="109728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600"/>
                </a:solidFill>
              </a:rPr>
              <a:t>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intervention cost vs ₹2L+ lifetime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0556" y="1143000"/>
            <a:ext cx="2651760" cy="109728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055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45309"/>
                </a:solidFill>
              </a:rPr>
              <a:t>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055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average delay before action taken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688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❌  Attendance registers checked monthly — absences compound silently for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❌  Marks, income, migration, distance data are all in separate siloed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832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❌  40+ students per class teacher — manual risk assessment is impossible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404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❌  Dropout confirmed at year-end — intervention window is completely lost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Our Solution — Stay-In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Four innovation pillars aligned to RTGS Problem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4" y="1188720"/>
            <a:ext cx="2743200" cy="4297680"/>
          </a:xfrm>
          <a:prstGeom prst="rect">
            <a:avLst/>
          </a:prstGeom>
          <a:solidFill>
            <a:srgbClr val="F0F4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366"/>
                </a:solidFill>
              </a:rPr>
              <a:t>AI-Powered
Predictive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" y="2651760"/>
            <a:ext cx="219456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7432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XGBoost on 4 govt datasets: attendance, FA/SA marks, GSWS socio-economic data, migration flags. Flags students 3–6 months before dropout.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188720"/>
            <a:ext cx="2743200" cy="4297680"/>
          </a:xfrm>
          <a:prstGeom prst="rect">
            <a:avLst/>
          </a:prstGeom>
          <a:solidFill>
            <a:srgbClr val="F0F4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366"/>
                </a:solidFill>
              </a:rPr>
              <a:t>Risk Visualization
&amp;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7872" y="2651760"/>
            <a:ext cx="219456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7432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District heatmap, colour-coded rosters (Critical/High/Medium/Low), SHAP driver sentences in English &amp; Telugu.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2743200" cy="4297680"/>
          </a:xfrm>
          <a:prstGeom prst="rect">
            <a:avLst/>
          </a:prstGeom>
          <a:solidFill>
            <a:srgbClr val="F0F4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366"/>
                </a:solidFill>
              </a:rPr>
              <a:t>LEAP API
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651760"/>
            <a:ext cx="219456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Risk scores pushed to AP LEAP via REST API. Teacher interventions sync back — closed-loop retraining feedback.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0848" y="1188720"/>
            <a:ext cx="2743200" cy="4297680"/>
          </a:xfrm>
          <a:prstGeom prst="rect">
            <a:avLst/>
          </a:prstGeom>
          <a:solidFill>
            <a:srgbClr val="F0F4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366"/>
                </a:solidFill>
              </a:rPr>
              <a:t>Community &amp;
Parental Engagement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2651760"/>
            <a:ext cx="219456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7432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GenAI WhatsApp/SMS in Telugu. Ward volunteer assignment. Scheme eligibility: Amma Vodi, RTF/MTF, KGBV.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✅  Exclusion error &lt; 20%   ·   ✅  Inclusion error &lt; 80%   ·   ✅  Explainable to non-technical staff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4 government data streams → unified student risk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83464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188720"/>
            <a:ext cx="2706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143000"/>
            <a:ext cx="201168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8" y="1188720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143000"/>
            <a:ext cx="493776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1188720"/>
            <a:ext cx="4809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143000"/>
            <a:ext cx="182880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8" y="1188720"/>
            <a:ext cx="1700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09928"/>
            <a:ext cx="28346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75564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FIN_YEAR Attendance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709928"/>
            <a:ext cx="20116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75564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School Ed. Dept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709928"/>
            <a:ext cx="493776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755648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Attendance rate, consecutive absences, monthly trend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709928"/>
            <a:ext cx="18288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1755648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Role-scoped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41448"/>
            <a:ext cx="28346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48716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 / SA Marks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441448"/>
            <a:ext cx="20116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248716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School Ed. Dept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441448"/>
            <a:ext cx="493776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4648" y="2487168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Subject-wise scores, failure flags, score trend delta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2441448"/>
            <a:ext cx="18288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8" y="2487168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Role-scoped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72968"/>
            <a:ext cx="28346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21868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GSWS Household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172968"/>
            <a:ext cx="20116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2968" y="321868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GSWS Dept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172968"/>
            <a:ext cx="493776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648" y="3218688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Family income, parent literacy, migration flag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3172968"/>
            <a:ext cx="18288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3218688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Aadhaar SHA-256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04488"/>
            <a:ext cx="28346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395020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School Location Master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904488"/>
            <a:ext cx="20116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72968" y="395020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School Ed. Dept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904488"/>
            <a:ext cx="493776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4648" y="3950208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Distance to school, rural/urban/tribal classification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3904488"/>
            <a:ext cx="18288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22408" y="3950208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Public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2636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Join key: CHILD_SNO  ·  Train: AY 2023-24  ·  Test (OOT): AY 2024-25  ·  395,970 students  ·  9,149 schools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XGBoost · Out-of-time test AY 2024-25 · Threshold p ≥ 0.5075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" y="1143000"/>
            <a:ext cx="2651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80.0%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Recall — dropouts caught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6" y="1143000"/>
            <a:ext cx="2651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3366"/>
                </a:solidFill>
              </a:rPr>
              <a:t>12.0%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127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Precision — true positives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5916" y="1143000"/>
            <a:ext cx="2651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600"/>
                </a:solidFill>
              </a:rPr>
              <a:t>0.374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PR-AUC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0556" y="1143000"/>
            <a:ext cx="2651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0556" y="1252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0.942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0556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ROC-AUC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86000"/>
            <a:ext cx="45720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331720"/>
            <a:ext cx="329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86000"/>
            <a:ext cx="219456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331720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286000"/>
            <a:ext cx="182880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0088" y="2331720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SHAP Importance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286000"/>
            <a:ext cx="713232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331720"/>
            <a:ext cx="7004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Plain-English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88920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2834640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788920"/>
            <a:ext cx="21945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2834640"/>
            <a:ext cx="20665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migration_flag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788920"/>
            <a:ext cx="18288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2834640"/>
            <a:ext cx="1700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26.6%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788920"/>
            <a:ext cx="713232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2834640"/>
            <a:ext cx="7004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Migration / relocation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10712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3456432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410712"/>
            <a:ext cx="21945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3456432"/>
            <a:ext cx="20665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caste_clean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410712"/>
            <a:ext cx="18288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8" y="3456432"/>
            <a:ext cx="1700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11.2%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3410712"/>
            <a:ext cx="713232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8888" y="3456432"/>
            <a:ext cx="7004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Social category (SC/ST/BC)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032504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4078224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032504"/>
            <a:ext cx="21945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4078224"/>
            <a:ext cx="20665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family_income_bracket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4032504"/>
            <a:ext cx="18288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0088" y="4078224"/>
            <a:ext cx="1700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10.3%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4032504"/>
            <a:ext cx="713232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18888" y="4078224"/>
            <a:ext cx="7004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Low family income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654296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" y="4700016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654296"/>
            <a:ext cx="21945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4700016"/>
            <a:ext cx="20665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parent_literacy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4654296"/>
            <a:ext cx="18288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90088" y="4700016"/>
            <a:ext cx="1700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10.1%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4654296"/>
            <a:ext cx="713232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18888" y="4700016"/>
            <a:ext cx="7004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Low parent literacy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276088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" y="5321808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276088"/>
            <a:ext cx="21945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8" y="5321808"/>
            <a:ext cx="20665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transport_allowance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5276088"/>
            <a:ext cx="18288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0088" y="5321808"/>
            <a:ext cx="1700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6.2%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5276088"/>
            <a:ext cx="713232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18888" y="5321808"/>
            <a:ext cx="7004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Distance to school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897880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8" y="5943600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5897880"/>
            <a:ext cx="21945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" y="5943600"/>
            <a:ext cx="20665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n_present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0" y="5897880"/>
            <a:ext cx="18288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0088" y="5943600"/>
            <a:ext cx="1700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5.8%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5897880"/>
            <a:ext cx="713232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18888" y="5943600"/>
            <a:ext cx="7004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Low attendance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5-minute walkthrough — 4 screens, zero backend dependency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5720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188720"/>
            <a:ext cx="329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237744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88720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43000"/>
            <a:ext cx="685800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188720"/>
            <a:ext cx="6729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What to Show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143000"/>
            <a:ext cx="822960" cy="50292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0968" y="1188720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691640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645920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1691640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Home — 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645920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1691640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4 innovation pillars, real metrics, demo credentials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645920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0968" y="1691640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67712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313432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267712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2313432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District Heatmap — /map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267712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2313432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Tap a school dot → school detail panel appears on right 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267712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313432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45s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89504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2935224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889504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2935224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Model Overview — /overview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2889504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2935224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PR curve, fairness breakdown by gender/caste/migration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889504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0968" y="2935224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511296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3557016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511296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3557016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Teacher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3511296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3557016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Colour-coded class roster by risk tier (Critical = red)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3511296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30968" y="3557016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45s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8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" y="4178808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133088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" y="4178808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Student Detail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4133088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72968" y="4178808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SHAP driver sentences in English &amp; Telugu; counsellor card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4133088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30968" y="4178808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60s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754880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" y="4800600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4754880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4800600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Community Card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4754880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72968" y="4800600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WhatsApp button, ward volunteer name, scheme eligibility alert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6960" y="4754880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30968" y="4800600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376672"/>
            <a:ext cx="4572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" y="5422392"/>
            <a:ext cx="329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5376672"/>
            <a:ext cx="237744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5422392"/>
            <a:ext cx="22494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AI Chatbot (floating)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08960" y="5376672"/>
            <a:ext cx="685800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72968" y="5422392"/>
            <a:ext cx="6729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"Vizag stats" → live district data; "boys vs girls" → gender recall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66960" y="5376672"/>
            <a:ext cx="822960" cy="621792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30968" y="5422392"/>
            <a:ext cx="694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30s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SHAP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Every flag is auditable — no black box, no blind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Sample student risk breakdown (XGBoost SHAP TreeExplainer):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103120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55448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508760"/>
            <a:ext cx="1463040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1554480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508760"/>
            <a:ext cx="1097280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554480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508760"/>
            <a:ext cx="6858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1554480"/>
            <a:ext cx="6729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Plain-English Sentence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210312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2103120"/>
            <a:ext cx="19751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migration_flag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057400"/>
            <a:ext cx="14630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1448" y="210312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1 (migrant)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057400"/>
            <a:ext cx="10972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8" y="2103120"/>
            <a:ext cx="969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+34.2%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057400"/>
            <a:ext cx="68580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2103120"/>
            <a:ext cx="6729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Family has migrated recently — strongest dropout signal in the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88920"/>
            <a:ext cx="210312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2834640"/>
            <a:ext cx="19751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attendance_rate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88920"/>
            <a:ext cx="14630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28346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48%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788920"/>
            <a:ext cx="10972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4488" y="2834640"/>
            <a:ext cx="969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+18.7%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788920"/>
            <a:ext cx="68580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2834640"/>
            <a:ext cx="6729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Below 50% attendance — nearly half of school days missed this term.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20440"/>
            <a:ext cx="210312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3566160"/>
            <a:ext cx="19751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family_income_bracket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520440"/>
            <a:ext cx="14630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356616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Below poverty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3520440"/>
            <a:ext cx="10972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04488" y="3566160"/>
            <a:ext cx="969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+12.1% 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520440"/>
            <a:ext cx="68580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1768" y="3566160"/>
            <a:ext cx="6729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Household in lowest income bracket — economic stress drives dropout.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51960"/>
            <a:ext cx="210312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4297680"/>
            <a:ext cx="19751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transport_allowance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4251960"/>
            <a:ext cx="14630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41448" y="429768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0 (none)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4251960"/>
            <a:ext cx="10972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04488" y="4297680"/>
            <a:ext cx="969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+8.4% 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4251960"/>
            <a:ext cx="68580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01768" y="4297680"/>
            <a:ext cx="6729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School &gt;3km away with no transport support — barrier to attendance.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983480"/>
            <a:ext cx="210312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" y="5029200"/>
            <a:ext cx="19751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fa_avg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983480"/>
            <a:ext cx="146304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41448" y="502920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68/100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983480"/>
            <a:ext cx="109728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04488" y="5029200"/>
            <a:ext cx="969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−4.2% 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4983480"/>
            <a:ext cx="6858000" cy="73152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01768" y="5029200"/>
            <a:ext cx="6729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 scores reasonable — academic performance slightly reduces risk.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2636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Teachers can contest any flag  ·  Human-in-the-loop before any action  ·  Full audit trail logged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Community &amp; Parental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GenAI-powered outreach in Telugu — reaching families where they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What happens when a student is flagged Critical: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1.  Class teacher gets a colour-coded alert in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75104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2.  GenAI drafts a parent SMS in Telugu: "మీ పిల్లవాడు పాఠశాల హాజరులో వెనుకబడ్డారు."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3.  Ward volunteer assigned (Asha Worker / GP Member / ANM).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4.  WhatsApp direct-link button sends message with one tap.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82112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5.  Intervention logged → feeds closed-loop retraining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143000"/>
            <a:ext cx="4754880" cy="4754880"/>
          </a:xfrm>
          <a:prstGeom prst="rect">
            <a:avLst/>
          </a:prstGeom>
          <a:solidFill>
            <a:srgbClr val="F0F4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Schemes auto-matched per student: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91640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• Amma Vodi — ₹15,000/yr for mothers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30552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• Vidya Kanuka — free school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69464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• Post-Matric RTF/MTF — SC/ST/BC scholarship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08376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• NTR Vidyonnathi — higher education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47288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• KGBV Residential — girls in tribal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886200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• Samagra Shiksha Transport — &gt;3km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Ethics &amp;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DPDP Act 2023 compliant  ·  Human-in-the-loop  ·  Transparent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286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1887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Principle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43000"/>
            <a:ext cx="7498079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328" y="1188720"/>
            <a:ext cx="73700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399" y="1143000"/>
            <a:ext cx="1463040" cy="548640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22407" y="1188720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737360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Aadhaar Protection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691640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1737360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SHA-256 hash at ingest — raw number never enters pipeline or browser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399" y="1691640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2407" y="1737360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✅ 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50008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395728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Data Minimisation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350008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2395728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Student names not stored in any browser-served JSON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399" y="2350008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22407" y="2395728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✅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08376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3054096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Role-scoped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008376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3054096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Teachers see only their school · HMs see only their cluster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399" y="3008376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3054096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✅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66744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712464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Human-in-the-loop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666744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4328" y="3712464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No automated action — all interventions require teacher confirmation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399" y="3666744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7" y="3712464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✅ Done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325112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4370832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Audit Trail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25112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24328" y="4370832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Every intervention logged with timestamp, method, volunteer 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399" y="4325112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2407" y="4370832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✅ Done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983480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5029200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Explainability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4983480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24328" y="5029200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SHAP sentences in plain English + Telugu for every model flag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399" y="4983480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22407" y="5029200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✅ Done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641848"/>
            <a:ext cx="2286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5687568"/>
            <a:ext cx="2157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Infrastructure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5641848"/>
            <a:ext cx="749807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4328" y="5687568"/>
            <a:ext cx="73700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Production: AP State Data Centre secure enclave, Amaravati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399" y="5641848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22407" y="5687568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🔵 Planned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Scale Plan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3-district pilot → statewide in 12 months via LEAP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28016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188720"/>
            <a:ext cx="11521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143000"/>
            <a:ext cx="146304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11887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143000"/>
            <a:ext cx="393192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1188720"/>
            <a:ext cx="38039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143000"/>
            <a:ext cx="4937760" cy="566928"/>
          </a:xfrm>
          <a:prstGeom prst="rect">
            <a:avLst/>
          </a:prstGeom>
          <a:solidFill>
            <a:srgbClr val="003366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188720"/>
            <a:ext cx="4809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Milestone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09928"/>
            <a:ext cx="12801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755648"/>
            <a:ext cx="1152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709928"/>
            <a:ext cx="146304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1755648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Month 1–3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709928"/>
            <a:ext cx="393192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8" y="1755648"/>
            <a:ext cx="3803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3 districts · ~1,500 schools · ~1.2L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709928"/>
            <a:ext cx="4937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1755648"/>
            <a:ext cx="4809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Recall ≥ 80% validated on live data; teacher UX feedback collected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15768"/>
            <a:ext cx="12801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761488"/>
            <a:ext cx="1152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State Rollout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715768"/>
            <a:ext cx="146304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18488" y="2761488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Month 4–9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715768"/>
            <a:ext cx="393192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2761488"/>
            <a:ext cx="3803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All 26 districts · 9,149 schools · 3.96L students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715768"/>
            <a:ext cx="4937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2761488"/>
            <a:ext cx="4809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LEAP API live integration; closed-loop retraining pipeline active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21608"/>
            <a:ext cx="12801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767328"/>
            <a:ext cx="1152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Optimise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721608"/>
            <a:ext cx="146304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8488" y="3767328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Month 10–12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721608"/>
            <a:ext cx="393192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3767328"/>
            <a:ext cx="3803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Full AP + model v2 with intervention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721608"/>
            <a:ext cx="4937760" cy="1005840"/>
          </a:xfrm>
          <a:prstGeom prst="rect">
            <a:avLst/>
          </a:prstGeom>
          <a:solidFill>
            <a:srgbClr val="F0F4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3767328"/>
            <a:ext cx="4809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Recall ≥ 85%; fairness gap &lt; 5% across gender/caste groups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001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What we need from RTGS: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1324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Access to live LEAP API sandbox for integration 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3-district pilot school data (AY 2023-25)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Coordination with School Education Dept and GSWS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Stay-In School  ·  RTGS AI Hackathon 2026  ·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167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